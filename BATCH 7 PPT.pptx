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65" r:id="rId5"/>
    <p:sldId id="264" r:id="rId6"/>
    <p:sldId id="262" r:id="rId7"/>
    <p:sldId id="258" r:id="rId8"/>
    <p:sldId id="263" r:id="rId9"/>
    <p:sldId id="259" r:id="rId10"/>
    <p:sldId id="261" r:id="rId11"/>
    <p:sldId id="280" r:id="rId12"/>
    <p:sldId id="260" r:id="rId13"/>
    <p:sldId id="267" r:id="rId14"/>
    <p:sldId id="268" r:id="rId15"/>
    <p:sldId id="269" r:id="rId16"/>
    <p:sldId id="277" r:id="rId17"/>
    <p:sldId id="270" r:id="rId18"/>
    <p:sldId id="271" r:id="rId19"/>
    <p:sldId id="272" r:id="rId20"/>
    <p:sldId id="279" r:id="rId21"/>
    <p:sldId id="273" r:id="rId22"/>
    <p:sldId id="274" r:id="rId23"/>
    <p:sldId id="275" r:id="rId24"/>
    <p:sldId id="276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F0D42-BD44-87CF-0526-B8E6A1CAA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C200D-9E59-CCC6-4804-23375BF6A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132A1-EF4D-88F6-2F13-131C94393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B7F9-6D8D-4113-BB3F-149BC9DAB69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2E05E-0166-6959-7A20-449FEE72C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4CE71-0BBF-2AFB-B053-7B92AC82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6E0-1C99-42E5-AE9A-7C1EA92E7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969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8D314-C943-F732-7441-1141FDD67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624C9-C429-1178-FDB3-23D154A96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09C2C-3DD2-A68F-0756-3089D99C8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B7F9-6D8D-4113-BB3F-149BC9DAB69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C0EA8-D156-BE7C-2F56-4046A242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E0AE4-E1EA-2814-9F0B-FBC88EC4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6E0-1C99-42E5-AE9A-7C1EA92E7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66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7A42-4432-C8D3-39A7-B1BD25F56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18CE1-4629-5FA3-D324-8274D2F38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1A48C-9E40-31A7-4008-8FD822C91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B7F9-6D8D-4113-BB3F-149BC9DAB69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D918C-10AE-717F-D2FD-403271389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2178B-C898-5898-C907-30EF54AF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6E0-1C99-42E5-AE9A-7C1EA92E7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501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03EC-B3A5-4DDA-1CE8-8780674AF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0733B-FF28-239F-4494-8D450B886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89FE2-FAFA-6A15-7191-2F1AE60E1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7188B-7844-95E6-2E9D-869232119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B7F9-6D8D-4113-BB3F-149BC9DAB69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8F403-AA55-05BC-48EB-5188BB4CF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8D5EA-7600-F40B-2C65-DAA5781EB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6E0-1C99-42E5-AE9A-7C1EA92E7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141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3215-8881-DDB3-4175-846330AA4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D9B9D-C6FC-4343-EF98-D4EB7D158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E99654-C524-7850-01FC-F61C90EB2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EE9B62-5011-70B6-B43D-FD85A7DAE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4D4FE7-C12C-E842-C9FB-F752F97BEB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5A6580-F184-1D2C-12C4-7FC561ABD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B7F9-6D8D-4113-BB3F-149BC9DAB69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2FB5D-1970-E660-9D3E-150C832D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71AD7-269C-625A-2EEA-6D1BA89D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6E0-1C99-42E5-AE9A-7C1EA92E7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47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D03A9-CD61-68C6-3731-54223F72D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A8D512-483C-DFCF-3235-CFD7D301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B7F9-6D8D-4113-BB3F-149BC9DAB69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613CD-770D-94FD-6A4C-A5DE3FCD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92A5A9-360C-CACF-0118-5556FAA2F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6E0-1C99-42E5-AE9A-7C1EA92E7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F7E18C-63BE-4522-5CB1-B7C88A318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B7F9-6D8D-4113-BB3F-149BC9DAB69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293971-5F8F-0588-3178-4A047B1EB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5DE48-EF75-ACFB-CD84-5B12E79F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6E0-1C99-42E5-AE9A-7C1EA92E7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52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043E-CCBB-60F1-5579-35696945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19154-3B0E-2083-9397-30D584A87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37DAF-C77A-BF09-8ABE-AB99DDFBA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F937E-1E3C-43B0-9D61-B31DF8A67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B7F9-6D8D-4113-BB3F-149BC9DAB69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7BE19-79A0-B1E7-33BD-A68E42A81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1CF2D-FFBB-EE24-5FF5-9AEFB1031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6E0-1C99-42E5-AE9A-7C1EA92E7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133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EE5FE-A41B-6851-E643-21FA1F0D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67E729-434E-7A7C-D8A6-E7D0ABBAD0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210FC-9FF1-50DF-36AE-40CBD2960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299D8-6557-FAD2-9955-1556B2146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B7F9-6D8D-4113-BB3F-149BC9DAB69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FFD25-3524-2B1E-DDA6-9A4C2191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B960B-DB07-C56F-2782-D9CB64ED4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6E0-1C99-42E5-AE9A-7C1EA92E7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699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4BE29-B411-92AB-2D89-D412EFD61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ACB558-6534-4FDA-21CB-EC2E59FDD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8249-E63A-2737-CD62-EFC37359A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B7F9-6D8D-4113-BB3F-149BC9DAB69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F0D4D-EE01-6334-8840-56603627E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59894-F165-0C25-E8B1-6A5A4000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6E0-1C99-42E5-AE9A-7C1EA92E7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54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66AEB9-5A26-6E60-C18F-C5BFFC8D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2FA52-9787-1F45-09B3-99423C414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AA483-0B40-1B9E-BE4B-EE9DA24A2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B7F9-6D8D-4113-BB3F-149BC9DAB69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86767-B7E9-E637-76A9-65A0C3FBF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0B638-4A85-D7DD-D322-FAA6AB13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6E0-1C99-42E5-AE9A-7C1EA92E7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917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51740C-84C0-B3A1-208D-23759A7BB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BA7AA-1438-DD81-8E30-8C46FF515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FE895-AA4D-2C46-7FA5-8A457C716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BB7F9-6D8D-4113-BB3F-149BC9DAB69C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09973-33CB-DB79-8F92-7362F206B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30073-020D-DCD1-821B-62BD19ED1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556E0-1C99-42E5-AE9A-7C1EA92E7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30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2.png"/><Relationship Id="rId7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Relationship Id="rId9" Type="http://schemas.openxmlformats.org/officeDocument/2006/relationships/image" Target="../media/image10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A19EF-4688-766C-D0DC-D0B03CB6E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B98BB-858A-61B0-9A52-63D9BF29C5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Renewmarket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 Second Hand-Goods </a:t>
            </a:r>
            <a:r>
              <a:rPr lang="en-IN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MarketPlace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150850-F2BC-F6B2-A2BC-989359CB2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F6DCB32-B2B7-BA07-DEA1-C2B462213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12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ITA0203-WEB TECHNOLOGY FOR FREE LANCER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AD7E31-E4FA-6C96-9BE3-055131AEC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A9E309-6459-07D0-F879-D82971CA91E1}"/>
              </a:ext>
            </a:extLst>
          </p:cNvPr>
          <p:cNvSpPr txBox="1"/>
          <p:nvPr/>
        </p:nvSpPr>
        <p:spPr>
          <a:xfrm>
            <a:off x="880533" y="4724400"/>
            <a:ext cx="4605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Dr Moorthy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Dr Arul Raj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5F32DC-BA0D-00C6-A3EC-BAE72AC65205}"/>
              </a:ext>
            </a:extLst>
          </p:cNvPr>
          <p:cNvSpPr txBox="1"/>
          <p:nvPr/>
        </p:nvSpPr>
        <p:spPr>
          <a:xfrm>
            <a:off x="9000066" y="4724400"/>
            <a:ext cx="23413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Prartana T(192421099)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Kaviya V(192421022)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577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B1E9-880A-5A85-20B4-F8A52C7A0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9566" y="552585"/>
            <a:ext cx="4428067" cy="554037"/>
          </a:xfrm>
        </p:spPr>
        <p:txBody>
          <a:bodyPr>
            <a:no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&amp; OBJECTIVE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EF1A7A-4670-CCCA-2199-7D4A50D18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467382-7BA8-65E9-CABE-814F66915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  <p:sp>
        <p:nvSpPr>
          <p:cNvPr id="14" name="Rectangle 6">
            <a:extLst>
              <a:ext uri="{FF2B5EF4-FFF2-40B4-BE49-F238E27FC236}">
                <a16:creationId xmlns:a16="http://schemas.microsoft.com/office/drawing/2014/main" id="{DEDB24C0-A2D4-0AB0-8B0E-60F998F2EE1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19201" y="1831606"/>
            <a:ext cx="6595532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online marketplace where sellers can upload and manage their products easily.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allow buyers to browse, view details, and purchase products in a simple and user-friendly platform.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product removal after purchase and update the seller about the sale and earnings received.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admin monitoring of all transactions, including commission tracking and product management.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reliable system that manages products, users, and sales smoothly without errors.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904385-D632-E58E-8741-E380EC8EEC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328" y="2286000"/>
            <a:ext cx="3521111" cy="282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68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2326A-A0B9-A616-3EFF-D249D970B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53D8E-4982-3F19-294B-DB6C72B89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9553" y="694355"/>
            <a:ext cx="5042263" cy="477837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FDF31F-7904-BB42-3A0A-D1590328C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9523B-ED46-4060-6451-A02F9D058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63417735-FF19-A220-D685-CC9E8A319EA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97281" y="1850708"/>
            <a:ext cx="5969180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an online marketplace that connects sellers and buyers through a web platform.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Sellers can upload products with images and details, while buyers can view and purchase products easily.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Once a product is purchased, it is removed from the platform, and the seller is notified with earnings information.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transparency for the admin, secure transactions, and smooth communication between all users.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3AC774-B2B2-6178-937F-2DC902C84E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405" y="1930400"/>
            <a:ext cx="4840393" cy="331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27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858A5-54EA-CA77-CF5A-F10B363F7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B804D-1A89-7CE8-6111-2C8AB7D44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9500" y="715963"/>
            <a:ext cx="7493000" cy="625122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700188-EDD0-8408-802C-28181CB75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7081A8-C40E-9112-5820-D7CF759F9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B17C2D-0386-B907-F5BA-E3EDE4CE8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905970"/>
              </p:ext>
            </p:extLst>
          </p:nvPr>
        </p:nvGraphicFramePr>
        <p:xfrm>
          <a:off x="1425981" y="2219526"/>
          <a:ext cx="9847384" cy="3629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1846">
                  <a:extLst>
                    <a:ext uri="{9D8B030D-6E8A-4147-A177-3AD203B41FA5}">
                      <a16:colId xmlns:a16="http://schemas.microsoft.com/office/drawing/2014/main" val="2814288057"/>
                    </a:ext>
                  </a:extLst>
                </a:gridCol>
                <a:gridCol w="2461846">
                  <a:extLst>
                    <a:ext uri="{9D8B030D-6E8A-4147-A177-3AD203B41FA5}">
                      <a16:colId xmlns:a16="http://schemas.microsoft.com/office/drawing/2014/main" val="2550276261"/>
                    </a:ext>
                  </a:extLst>
                </a:gridCol>
                <a:gridCol w="2461846">
                  <a:extLst>
                    <a:ext uri="{9D8B030D-6E8A-4147-A177-3AD203B41FA5}">
                      <a16:colId xmlns:a16="http://schemas.microsoft.com/office/drawing/2014/main" val="1974111560"/>
                    </a:ext>
                  </a:extLst>
                </a:gridCol>
                <a:gridCol w="2461846">
                  <a:extLst>
                    <a:ext uri="{9D8B030D-6E8A-4147-A177-3AD203B41FA5}">
                      <a16:colId xmlns:a16="http://schemas.microsoft.com/office/drawing/2014/main" val="2290659794"/>
                    </a:ext>
                  </a:extLst>
                </a:gridCol>
              </a:tblGrid>
              <a:tr h="301485">
                <a:tc>
                  <a:txBody>
                    <a:bodyPr/>
                    <a:lstStyle/>
                    <a:p>
                      <a:r>
                        <a:rPr lang="en-IN" sz="1000" dirty="0"/>
                        <a:t>AUTHOR/YEAR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SYSTEM/TECHNOLOGY STUDIED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FINDINDS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316410"/>
                  </a:ext>
                </a:extLst>
              </a:tr>
              <a:tr h="904455">
                <a:tc>
                  <a:txBody>
                    <a:bodyPr/>
                    <a:lstStyle/>
                    <a:p>
                      <a:r>
                        <a:rPr lang="en-IN" sz="10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Univio</a:t>
                      </a:r>
                      <a:r>
                        <a:rPr lang="en-IN" sz="1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(2023)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E-Commerce Trends in 2023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E-commerce and marketplace design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Emphasized intuitive user interfaces and smooth browsing, inspiring clear dashboards in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RenewMarket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br>
                        <a:rPr lang="en-US" sz="1000" dirty="0"/>
                      </a:b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396643"/>
                  </a:ext>
                </a:extLst>
              </a:tr>
              <a:tr h="542673">
                <a:tc>
                  <a:txBody>
                    <a:bodyPr/>
                    <a:lstStyle/>
                    <a:p>
                      <a:r>
                        <a:rPr lang="en-IN" sz="10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WebInterpret</a:t>
                      </a:r>
                      <a:r>
                        <a:rPr lang="en-IN" sz="1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(2025)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Management &amp; Storage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structuring and file management systems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Suggested transparent management and real-time updates, shaping the admin monitoring system.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285408"/>
                  </a:ext>
                </a:extLst>
              </a:tr>
              <a:tr h="542673">
                <a:tc>
                  <a:txBody>
                    <a:bodyPr/>
                    <a:lstStyle/>
                    <a:p>
                      <a:r>
                        <a:rPr lang="en-IN" sz="10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Komprise</a:t>
                      </a:r>
                      <a:r>
                        <a:rPr lang="en-IN" sz="1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(2024)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Online Marketplace Strategies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Online trading and performance optimization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Guided secure data handling and efficient JSON storage for reliable backend organization.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059256"/>
                  </a:ext>
                </a:extLst>
              </a:tr>
              <a:tr h="663267">
                <a:tc>
                  <a:txBody>
                    <a:bodyPr/>
                    <a:lstStyle/>
                    <a:p>
                      <a:r>
                        <a:rPr lang="en-IN" sz="1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Sharma &amp; Gupta (2022)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Secure Web Transactions using Node.js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Node.js and Express-based web applications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Introduced secure login methods in Node.js, influencing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RenewMarket’s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authentication module.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189745"/>
                  </a:ext>
                </a:extLst>
              </a:tr>
              <a:tr h="663267">
                <a:tc>
                  <a:txBody>
                    <a:bodyPr/>
                    <a:lstStyle/>
                    <a:p>
                      <a:r>
                        <a:rPr lang="en-IN" sz="1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Kumar et al. (2023)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Role-Based Access in Web Systems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Role and permission management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Highlighted role-based access control, supporting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RenewMarket’s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multi-user management design.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132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654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CB8C8-0419-58D2-0641-169745E53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60105-5B82-BA3D-A099-F9E152A42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39291" y="462315"/>
            <a:ext cx="6113417" cy="725964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66EB7C-1803-CB3E-E3B5-9C56CB071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DC3A31-DD9A-FCB5-B03E-1E8738CB3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7A6B48F-2255-B8D7-60EF-BE183A95EF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72343" y="1737157"/>
            <a:ext cx="8900160" cy="443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current marketplaces have limited seller control, where sellers cannot properly track product sales or earnings.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Buyers face communication gaps due to no direct updates about payment confirmation or product availability.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Admins often need to manage everything manually, which increases time and error risk in approval or removal of sold products.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Sold products remain visible in listings, causing confusion and poor user experience for buyers and sellers.</a:t>
            </a:r>
          </a:p>
        </p:txBody>
      </p:sp>
    </p:spTree>
    <p:extLst>
      <p:ext uri="{BB962C8B-B14F-4D97-AF65-F5344CB8AC3E}">
        <p14:creationId xmlns:p14="http://schemas.microsoft.com/office/powerpoint/2010/main" val="1710531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A3036-75A3-B500-20B8-B92C2A46B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AF95-FAFD-9076-02D0-BB3799EE2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1465" y="702733"/>
            <a:ext cx="7001933" cy="73148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1E8764-B3D7-2D0D-6072-3F36FD2E6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F5F635-0E78-8712-3EAC-0913568FC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907968C-E92F-1CED-6F49-B889BEAFC84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84767" y="1846542"/>
            <a:ext cx="10422466" cy="3744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 platform where sellers can upload products and buyers can purchase easily.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Purchased products are removed automatically, and sellers are notified of earnings.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monitors all transactions and commissions efficiently.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Clear, simple dashboards for sellers, buyers, and admin.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768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6A099-B138-D308-3E6E-7C8792DC5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CE870-2446-8A6F-EF00-FB4DB2911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587992"/>
            <a:ext cx="7120467" cy="504296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DDDF3A-B884-E20B-A997-8FD12BA5B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220EA6D-700F-9CF7-65AF-AEC13AB2B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29619"/>
            <a:ext cx="9144000" cy="2798762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macOS / Linux</a:t>
            </a:r>
          </a:p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Server: Node.js with Express</a:t>
            </a:r>
          </a:p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Storage: JSON files for products, orders, and wallets</a:t>
            </a:r>
          </a:p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 for user-friendly dashboards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00E334-93CD-BDEE-A2A8-6BD12325B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390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9C13F-3085-6A5A-C263-938C436AD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F515F-C4E5-ED90-2784-C68F06A5A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7363" y="547068"/>
            <a:ext cx="6917267" cy="60589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AE2D4E-3B6B-0C56-5BAF-03C0DCCC7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47D3CD-998A-99E9-A7A5-F423583CA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391EDD-B503-4E58-349E-2B1161C0A685}"/>
              </a:ext>
            </a:extLst>
          </p:cNvPr>
          <p:cNvSpPr/>
          <p:nvPr/>
        </p:nvSpPr>
        <p:spPr>
          <a:xfrm>
            <a:off x="2218267" y="1933485"/>
            <a:ext cx="1667933" cy="12266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BUYER </a:t>
            </a:r>
          </a:p>
          <a:p>
            <a:pPr algn="ctr"/>
            <a:r>
              <a:rPr lang="en-IN" dirty="0"/>
              <a:t>PANEL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E61F15-A9A1-0917-65EC-D577C5ECBFEE}"/>
              </a:ext>
            </a:extLst>
          </p:cNvPr>
          <p:cNvSpPr/>
          <p:nvPr/>
        </p:nvSpPr>
        <p:spPr>
          <a:xfrm>
            <a:off x="5113867" y="1933485"/>
            <a:ext cx="1667933" cy="12266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SELLER </a:t>
            </a:r>
          </a:p>
          <a:p>
            <a:pPr algn="ctr"/>
            <a:r>
              <a:rPr lang="en-IN" dirty="0"/>
              <a:t>PANEL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732D0C-4EC9-2A8B-27E9-82DD2A2E8EEA}"/>
              </a:ext>
            </a:extLst>
          </p:cNvPr>
          <p:cNvSpPr/>
          <p:nvPr/>
        </p:nvSpPr>
        <p:spPr>
          <a:xfrm>
            <a:off x="7886700" y="1933484"/>
            <a:ext cx="1667933" cy="12266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ADMIN </a:t>
            </a:r>
          </a:p>
          <a:p>
            <a:pPr algn="ctr"/>
            <a:r>
              <a:rPr lang="en-IN" dirty="0"/>
              <a:t>PANEL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9FC6E7-850A-2A20-D9DD-D189879E2AA9}"/>
              </a:ext>
            </a:extLst>
          </p:cNvPr>
          <p:cNvSpPr/>
          <p:nvPr/>
        </p:nvSpPr>
        <p:spPr>
          <a:xfrm>
            <a:off x="4783668" y="3697819"/>
            <a:ext cx="2396065" cy="82126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Node.js + Express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9BB219-9A14-84FF-7C49-6D6C6EE757A6}"/>
              </a:ext>
            </a:extLst>
          </p:cNvPr>
          <p:cNvSpPr/>
          <p:nvPr/>
        </p:nvSpPr>
        <p:spPr>
          <a:xfrm>
            <a:off x="4783668" y="5294402"/>
            <a:ext cx="2396065" cy="82126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JSON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6FBE73-7E12-624C-DA93-D9D226C91F9B}"/>
              </a:ext>
            </a:extLst>
          </p:cNvPr>
          <p:cNvCxnSpPr>
            <a:cxnSpLocks/>
          </p:cNvCxnSpPr>
          <p:nvPr/>
        </p:nvCxnSpPr>
        <p:spPr>
          <a:xfrm>
            <a:off x="5947833" y="3293533"/>
            <a:ext cx="0" cy="3386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CCE59C-A7DE-95B3-31CC-A568D009085D}"/>
              </a:ext>
            </a:extLst>
          </p:cNvPr>
          <p:cNvCxnSpPr>
            <a:cxnSpLocks/>
          </p:cNvCxnSpPr>
          <p:nvPr/>
        </p:nvCxnSpPr>
        <p:spPr>
          <a:xfrm>
            <a:off x="3488267" y="3293533"/>
            <a:ext cx="1143000" cy="922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A376F3-1C68-7AF9-DED0-1DFC3C0AFEC1}"/>
              </a:ext>
            </a:extLst>
          </p:cNvPr>
          <p:cNvCxnSpPr/>
          <p:nvPr/>
        </p:nvCxnSpPr>
        <p:spPr>
          <a:xfrm flipH="1">
            <a:off x="7408333" y="3293533"/>
            <a:ext cx="1092200" cy="922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62254F-7F11-B179-4D7D-14DA20D59D5C}"/>
              </a:ext>
            </a:extLst>
          </p:cNvPr>
          <p:cNvCxnSpPr>
            <a:cxnSpLocks/>
          </p:cNvCxnSpPr>
          <p:nvPr/>
        </p:nvCxnSpPr>
        <p:spPr>
          <a:xfrm>
            <a:off x="5977466" y="4580467"/>
            <a:ext cx="0" cy="584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854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47F89-BE85-ABC6-FD45-48B4135D1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3CDDC-6027-25FA-071E-F234C2D0B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0517" y="634559"/>
            <a:ext cx="7573433" cy="59743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242424"/>
                </a:solidFill>
                <a:latin typeface="Times New Roman" panose="02020603050405020304" pitchFamily="18" charset="0"/>
                <a:ea typeface="Cormorant Garamond Bold"/>
                <a:cs typeface="Times New Roman" panose="02020603050405020304" pitchFamily="18" charset="0"/>
                <a:sym typeface="Cormorant Garamond Bold"/>
              </a:rPr>
              <a:t>DESIGN &amp; MODULE PLANNING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AE8A1C-504D-9F88-9281-98C4D1A44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B12AB2B-18BA-A24E-266B-842904385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0334" y="1747485"/>
            <a:ext cx="9144000" cy="4382382"/>
          </a:xfrm>
        </p:spPr>
        <p:txBody>
          <a:bodyPr>
            <a:noAutofit/>
          </a:bodyPr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Seller &amp; Product Management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Buyer Purchase &amp; Admin Control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real-time notifications for admins and sellers work properly.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overall data consistency between buyer, seller, and admin panels.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18B3AA-EB61-A76B-E353-581276A71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674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88508-3D11-6AE4-BBFD-ED02E3C96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45CD9-1474-C801-9F28-DE02DC141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8933" y="2353734"/>
            <a:ext cx="3268133" cy="605896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62A380-6175-95F9-8B29-A780CE344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497D262-2CD3-A3CA-60ED-054DFBE16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8199" y="3246438"/>
            <a:ext cx="8415867" cy="504295"/>
          </a:xfrm>
        </p:spPr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 &amp; PRODUCT MAMAGEMENT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E2059E-E83F-6504-4957-95BB208F8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80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71F26-B75B-3DF4-DCCB-C1D0B03CB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FF8AA-FA45-7F03-9DDE-EE4741527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0800" y="596459"/>
            <a:ext cx="6620933" cy="67363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C158E8-AB9B-9297-FEAE-9787739AF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0066" y="1747484"/>
            <a:ext cx="9144000" cy="4297715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log in and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products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with multiple images using a simple form.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and Multer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secure image upload and storage.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details are saved in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files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with seller name and timestamp.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or delete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their listings anytime through the dashboard.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 ensure new or modified products appear instantly for buyers and admin.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691E38-562D-3337-AA1D-E34D84182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63D551-485D-71B0-AE30-F2B4CDF8B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64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1BCD2-BDD6-5D13-5967-2923C8B3F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4BDB7-594C-8792-93E4-E69774735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6200" y="745067"/>
            <a:ext cx="7399867" cy="76200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78344F-122A-294E-A469-375691C34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EEE651B-EFAF-D49D-D8D5-35B9CE18E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2145770"/>
            <a:ext cx="9144000" cy="2964745"/>
          </a:xfrm>
        </p:spPr>
        <p:txBody>
          <a:bodyPr>
            <a:normAutofit fontScale="25000" lnSpcReduction="20000"/>
          </a:bodyPr>
          <a:lstStyle/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 logs in and adds product details via a form.</a:t>
            </a:r>
          </a:p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images can be uploaded for each product.</a:t>
            </a:r>
          </a:p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data is stored in JSON files.</a:t>
            </a:r>
          </a:p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 reflect product availability immediately.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B237AB-7FF2-91FB-BFE3-6F7FA5796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639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F3E17-8EE4-E941-3B77-872344C24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5234" y="550334"/>
            <a:ext cx="9144000" cy="1113896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SYSTEM DESIGN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CAE7C-349C-DABE-8B47-FA459EF5A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0066" y="2178756"/>
            <a:ext cx="9144000" cy="2931760"/>
          </a:xfrm>
        </p:spPr>
        <p:txBody>
          <a:bodyPr>
            <a:normAutofit fontScale="25000" lnSpcReduction="20000"/>
          </a:bodyPr>
          <a:lstStyle/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 Dashboard displays all products in a card layout.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 to edit or delete products.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form for new products with image preview.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9EB54-967D-1D36-2019-AC5995C08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D6B9A0-FD44-802C-7650-A2D3CF968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398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1BDFA-B5D4-2762-AC00-F19C01172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3500" y="702732"/>
            <a:ext cx="7247467" cy="67221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TESTING &amp;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6E491-8D2E-B164-CC53-99079C355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0066" y="1959945"/>
            <a:ext cx="9144000" cy="3459162"/>
          </a:xfrm>
        </p:spPr>
        <p:txBody>
          <a:bodyPr>
            <a:normAutofit fontScale="25000" lnSpcReduction="20000"/>
          </a:bodyPr>
          <a:lstStyle/>
          <a:p>
            <a:pPr marL="342900" indent="-342900" algn="l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product upload and image storage.</a:t>
            </a:r>
          </a:p>
          <a:p>
            <a:pPr marL="342900" indent="-342900" algn="l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that product details save correctly in JSON.</a:t>
            </a:r>
          </a:p>
          <a:p>
            <a:pPr marL="342900" indent="-342900" algn="l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that updates and deletions reflect on all panels.</a:t>
            </a:r>
          </a:p>
          <a:p>
            <a:pPr marL="342900" indent="-342900" algn="l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real-time notifications for admins and sellers work properly.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C7AAA0-6829-0D65-1826-28B53FC57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B010E1-0D15-DCB6-99BB-111283127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928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2D96D-5AEC-8D59-08D1-1BD23C22C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5234" y="2125133"/>
            <a:ext cx="9144000" cy="897468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 2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98480-6F93-E0B9-B158-80591CD89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867" y="2908300"/>
            <a:ext cx="9144000" cy="1041400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 Purchase &amp; Admin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C437B5-983E-0D80-8C3B-4B68CCB2F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6725DF-1700-AD96-C28F-3C94C40B9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478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93A2-01CF-97DB-60D8-12AC8B548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0800" y="596459"/>
            <a:ext cx="6620933" cy="67363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521B39-5EC1-31CE-CCEE-6366A9921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9333" y="2009952"/>
            <a:ext cx="9144000" cy="4094516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Buyers can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and purchase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available products through an interactive interface.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Purchased items are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removed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from listings after confirmation.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Panel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tracks sales, updates commissions, and monitors transactions.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changes are synced in real time between buyer, seller, and admin dashboards.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ensures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transactions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accurate data handling, and transparent management.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98F665-5A16-597D-D48D-3A8DE5554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EDB47B-B992-599A-1048-E7D900C56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77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A1EC0-F04C-C69E-97DA-CAB7B1D55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7201" y="469019"/>
            <a:ext cx="8940799" cy="1278466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1C6BA4-BD9E-6204-3FBE-320C08595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1" y="2218267"/>
            <a:ext cx="9144000" cy="2892249"/>
          </a:xfrm>
        </p:spPr>
        <p:txBody>
          <a:bodyPr>
            <a:normAutofit fontScale="25000" lnSpcReduction="20000"/>
          </a:bodyPr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 browses products and selects items to purchase.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triggers automatic removal of the product from all panels.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receives updated sales information and calculates commission.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C9BE1F-A262-3261-A48B-84F03F786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02F6AA-47FC-3034-4E68-98A28177B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33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B3F1-759F-5FAE-AB2B-A13B138E7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3666" y="410016"/>
            <a:ext cx="7967134" cy="104651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SYSTEM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3C058-6A0F-AE0F-AC76-552CA9713C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30438"/>
            <a:ext cx="9144000" cy="2880078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 Dashboard shows products in a grid layout.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API handles transactions and product removal.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tracks orders, wallet balances, and commissions.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24061E-6E29-515A-F7F7-30914A3E3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94DFDE-3BF8-D85B-F18C-9A447157E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64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79BE-FF1C-0110-37B4-349AF18F8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9866" y="503236"/>
            <a:ext cx="7814734" cy="100383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TESTING &amp;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84BC34-34CB-B802-3C9C-A8A2CD7A4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4733" y="1934105"/>
            <a:ext cx="9144000" cy="4128028"/>
          </a:xfrm>
        </p:spPr>
        <p:txBody>
          <a:bodyPr>
            <a:normAutofit fontScale="25000" lnSpcReduction="20000"/>
          </a:bodyPr>
          <a:lstStyle/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purchase flow for accuracy.</a:t>
            </a:r>
          </a:p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purchased products are removed immediately.</a:t>
            </a:r>
          </a:p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admin commission calculations for correctness.</a:t>
            </a:r>
          </a:p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overall data consistency between buyer, seller, and admin panels.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73950C-DB4A-2738-8B60-86EBB2AD6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333E75-822E-0DC9-F61A-0325042BF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78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307DF-D8DE-4220-C9CC-3AB8FA3A9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D55FA-CADE-6BE8-2E14-BA17FF615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9866" y="503236"/>
            <a:ext cx="7814734" cy="100383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RESULT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2E7EC7-7435-A702-960D-2D27AC062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CB1FD4-5E7A-A2A9-5A38-FF7C410E1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5B0ADE-789D-76BB-F308-9D305CEC4E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546" y="2038947"/>
            <a:ext cx="2861518" cy="1554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96A0C1-8D87-58AC-1FBC-B7317E5D76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11" y="2038947"/>
            <a:ext cx="2711054" cy="15541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7B5452-AE5F-0B18-6D3E-20DCECCB76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879" y="2037979"/>
            <a:ext cx="2649854" cy="15560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97BF9E-83BE-6E40-E73D-28DE83D91A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546" y="4124990"/>
            <a:ext cx="2861518" cy="17000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7F08D9-F9F0-5F00-BEE7-7D60F50301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11" y="4124990"/>
            <a:ext cx="2711054" cy="17000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EE16D1-2F86-9420-D17F-41F95BCF8A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878" y="4124990"/>
            <a:ext cx="2649853" cy="170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09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D82F7-D2CC-168B-6668-04067A9AF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1100" y="316486"/>
            <a:ext cx="7289800" cy="1233575"/>
          </a:xfrm>
        </p:spPr>
        <p:txBody>
          <a:bodyPr>
            <a:no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DEBBUGING &amp;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3DDB82-FD0B-FB3D-3796-A3A80C17E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73238"/>
            <a:ext cx="9144000" cy="3888404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real-time update issues so all panels reflect changes instantly.</a:t>
            </a:r>
          </a:p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uploaded images are correctly stored and displayed.</a:t>
            </a:r>
          </a:p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Deleted product images automatically after purchase to save storage.</a:t>
            </a:r>
          </a:p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page load speed and UI responsiveness.</a:t>
            </a:r>
          </a:p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Prevented duplicate purchases and ensured smooth transaction flow.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59DC02-C9EB-778A-0490-7D3871788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C0D623-D1FD-EABA-F532-69E750F1C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18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A105B-62D4-F83A-4254-4D4CD8065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4117" y="600692"/>
            <a:ext cx="5583766" cy="6651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SYSTEM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484B4-CB4E-5E30-8201-FC94BED5C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4733" y="1646237"/>
            <a:ext cx="6392334" cy="4611071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Testing: Verified each feature individually (product upload, edit, delete).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Testing: Checked real-time updates between buyer, seller, and admin panels.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Testing: Ensured all modules perform their intended tasks correctly.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Acceptance Testing (UAT): Confirmed the system works smoothly for all users.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Handling: Validated proper alerts for invalid inputs or failed transactions.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66B99-6913-D1D2-2646-ADDB580A6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6CBBD3-2364-41EE-6960-E1BDECBF6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8A37E6-6650-6973-B14A-5EB6E590C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050" y="2252264"/>
            <a:ext cx="3162325" cy="299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092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EFED-ADE5-6EB8-F872-FB96A0CA5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8" y="550333"/>
            <a:ext cx="3412066" cy="550333"/>
          </a:xfrm>
        </p:spPr>
        <p:txBody>
          <a:bodyPr>
            <a:no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37393-350F-0BBB-E671-FA1390571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online marketplace successfully connects sellers, buyers, and admin in a single platform.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are managed efficiently, with automatic removal after purchase.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monitor transactions and commissions easily, ensuring transparency.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smooth, user-friendly, and error-free experience for all users.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scalable for future enhancements like payment integration or additional modules.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E325BB-8720-FAD0-2BF6-C13F585B9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0458AB-0514-84E5-36E7-88625D082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861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E7D5F-A0EA-76A7-669C-7275ECC3C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7301" y="668867"/>
            <a:ext cx="4237566" cy="7159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57744-057B-545E-F423-63290BDA9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942571"/>
            <a:ext cx="9144000" cy="3789362"/>
          </a:xfrm>
        </p:spPr>
        <p:txBody>
          <a:bodyPr>
            <a:normAutofit fontScale="25000" lnSpcReduction="20000"/>
          </a:bodyPr>
          <a:lstStyle/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Official Documentation </a:t>
            </a:r>
          </a:p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 Guides –</a:t>
            </a:r>
          </a:p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MDN Web Docs – HTML, CSS, JavaScript </a:t>
            </a:r>
          </a:p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Multer Image Upload Documentation </a:t>
            </a:r>
          </a:p>
          <a:p>
            <a:pPr marL="342900" indent="-34290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Data Storage Models – Various online tutorials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B9A438-E2F0-F114-CA30-D930A329C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DA52F9-F55A-3C22-9DBA-D3D3007E7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34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CFA6B-61B3-2DDF-2823-8D07281F3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1896"/>
            <a:ext cx="9144000" cy="2387600"/>
          </a:xfrm>
        </p:spPr>
        <p:txBody>
          <a:bodyPr>
            <a:normAutofit/>
          </a:bodyPr>
          <a:lstStyle/>
          <a:p>
            <a:r>
              <a:rPr lang="en-IN" sz="7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30471-EBED-21EB-82ED-59D9175D6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19063"/>
            <a:ext cx="1761066" cy="1628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383581-6882-508E-5885-F6B8844F9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066" y="119063"/>
            <a:ext cx="1498599" cy="1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00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1173</Words>
  <Application>Microsoft Office PowerPoint</Application>
  <PresentationFormat>Widescreen</PresentationFormat>
  <Paragraphs>141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Times New Roman</vt:lpstr>
      <vt:lpstr>Office Theme</vt:lpstr>
      <vt:lpstr>Renewmarket - A Second Hand-Goods MarketPlace Platform</vt:lpstr>
      <vt:lpstr>AIM &amp; OBJECTIVE</vt:lpstr>
      <vt:lpstr>ABSTRACT</vt:lpstr>
      <vt:lpstr>LITERATURE REVIEW</vt:lpstr>
      <vt:lpstr>EXISTING SYSTEM</vt:lpstr>
      <vt:lpstr>PROPOSED SYSTEM</vt:lpstr>
      <vt:lpstr>SOFTWARE REQUIREMENTS</vt:lpstr>
      <vt:lpstr>SYSTEM ARCHITECTURE</vt:lpstr>
      <vt:lpstr>DESIGN &amp; MODULE PLANNING</vt:lpstr>
      <vt:lpstr>MODULE 1</vt:lpstr>
      <vt:lpstr>MODULE 1 : DEVELOPMENT</vt:lpstr>
      <vt:lpstr>MODULE 1: METHODOLOGY</vt:lpstr>
      <vt:lpstr>MODULE 1: SYSTEM DESIGN</vt:lpstr>
      <vt:lpstr>MODULE 1: TESTING &amp; REVIEW</vt:lpstr>
      <vt:lpstr>MODULE  2 </vt:lpstr>
      <vt:lpstr>MODULE 2: DEVELOPMENT</vt:lpstr>
      <vt:lpstr>MODULE 2: METHODOLOGY</vt:lpstr>
      <vt:lpstr>MODULE 2: SYSTEM DESIGN</vt:lpstr>
      <vt:lpstr>MODULE 2: TESTING &amp; REVIEW</vt:lpstr>
      <vt:lpstr>IMPLEMENTATION &amp; RESULT</vt:lpstr>
      <vt:lpstr>SYSTEM DEBBUGING &amp; OPTIMIZATION</vt:lpstr>
      <vt:lpstr>FULL SYSTEM TESTING</vt:lpstr>
      <vt:lpstr>CONCLUSION 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Prartana T</dc:creator>
  <cp:lastModifiedBy>Kaviya V</cp:lastModifiedBy>
  <cp:revision>2</cp:revision>
  <dcterms:created xsi:type="dcterms:W3CDTF">2025-10-10T08:58:55Z</dcterms:created>
  <dcterms:modified xsi:type="dcterms:W3CDTF">2025-10-10T15:44:26Z</dcterms:modified>
</cp:coreProperties>
</file>